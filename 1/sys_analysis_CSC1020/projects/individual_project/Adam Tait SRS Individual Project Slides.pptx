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embeddedFontLst>
    <p:embeddedFont>
      <p:font typeface="Nunito"/>
      <p:regular r:id="rId32"/>
      <p:bold r:id="rId33"/>
      <p:italic r:id="rId34"/>
      <p:boldItalic r:id="rId35"/>
    </p:embeddedFont>
    <p:embeddedFont>
      <p:font typeface="Maven Pro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1928">
          <p15:clr>
            <a:srgbClr val="747775"/>
          </p15:clr>
        </p15:guide>
        <p15:guide id="2" pos="3855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928"/>
        <p:guide pos="385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Nunito-bold.fntdata"/><Relationship Id="rId10" Type="http://schemas.openxmlformats.org/officeDocument/2006/relationships/slide" Target="slides/slide5.xml"/><Relationship Id="rId32" Type="http://schemas.openxmlformats.org/officeDocument/2006/relationships/font" Target="fonts/Nunito-regular.fntdata"/><Relationship Id="rId13" Type="http://schemas.openxmlformats.org/officeDocument/2006/relationships/slide" Target="slides/slide8.xml"/><Relationship Id="rId35" Type="http://schemas.openxmlformats.org/officeDocument/2006/relationships/font" Target="fonts/Nunito-boldItalic.fntdata"/><Relationship Id="rId12" Type="http://schemas.openxmlformats.org/officeDocument/2006/relationships/slide" Target="slides/slide7.xml"/><Relationship Id="rId34" Type="http://schemas.openxmlformats.org/officeDocument/2006/relationships/font" Target="fonts/Nunito-italic.fntdata"/><Relationship Id="rId15" Type="http://schemas.openxmlformats.org/officeDocument/2006/relationships/slide" Target="slides/slide10.xml"/><Relationship Id="rId37" Type="http://schemas.openxmlformats.org/officeDocument/2006/relationships/font" Target="fonts/MavenPro-bold.fntdata"/><Relationship Id="rId14" Type="http://schemas.openxmlformats.org/officeDocument/2006/relationships/slide" Target="slides/slide9.xml"/><Relationship Id="rId36" Type="http://schemas.openxmlformats.org/officeDocument/2006/relationships/font" Target="fonts/MavenPro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aded31e49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aded31e49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Hello and welcome to my Individual SRS project, </a:t>
            </a:r>
            <a:br>
              <a:rPr lang="en-GB"/>
            </a:br>
            <a:r>
              <a:rPr lang="en-GB"/>
              <a:t>My name is Adam Tait,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and this project is building on the group project for the VLC Media player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ac51e713e1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ac51e713e1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There will be two parts to this project,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First an overview and explanation of the SRS group project on the VLC media player catered to a specific stakeholder,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Followed later by a self reflection on my work in the group project.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Starting with the overview for a stakeholder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ac51e713e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ac51e713e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 my target stakeholder, I have selected the Parent Company. Namely VideoLan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ac51e713e1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ac51e713e1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 will summarise the srs project by focusing mainly on two models most relevant to you, the parent company.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First will by the System Vision Model,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Then the Goal Model</a:t>
            </a:r>
            <a:br>
              <a:rPr lang="en-GB"/>
            </a:br>
            <a:br>
              <a:rPr lang="en-GB"/>
            </a:br>
            <a:r>
              <a:rPr lang="en-GB"/>
              <a:t>Starting with the system vision model,</a:t>
            </a:r>
            <a:br>
              <a:rPr lang="en-GB"/>
            </a:br>
            <a:br>
              <a:rPr lang="en-GB"/>
            </a:b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ac51e713e1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ac51e713e1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This model highlights the role of the parent company in the overall system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The parent company’s priority here is shown to be creating a high quality product.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It does this by </a:t>
            </a:r>
            <a:r>
              <a:rPr lang="en-GB"/>
              <a:t>providing user support, project management, and continuous development to the VLC media player.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and in return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it receives a sizeable user base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Along with the parent company’s role being represented in this model,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its important to note the role of the sponsors,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who’s financial support along with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donations from the community makes the whole project possible.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can also see the importance of heeding any concerns held by the projects developers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All while keeping competition in mind to remain motivated and relevant in the community.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ac51e713e1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ac51e713e1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That brings us onto the goal model,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ac51e713e1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ac51e713e1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model shows the goals of the project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For the purposes of this presentation we can draw most of our attention to the business goals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ac51e713e1_1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ac51e713e1_1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These goals include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Maximising the market reach of the project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But remaining free and open source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While providing long term maintenance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ac51e713e1_1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ac51e713e1_1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It's</a:t>
            </a:r>
            <a:r>
              <a:rPr lang="en-GB"/>
              <a:t> also important to note that the strategies for these goals include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having to balance keeping the project free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and high quality,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 that is an inherent conflicting..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ac51e713e1_1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ac51e713e1_1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Along with the business side of things, we must also be responsible for our project operating within any legal obligations associated with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file sharing in both the individual and community use cases.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This serves to protect the company but also the user,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in cases of malicious file transfers.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ac51e713e1_1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ac51e713e1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So, the requirements that are most </a:t>
            </a:r>
            <a:r>
              <a:rPr lang="en-GB"/>
              <a:t>relevant</a:t>
            </a:r>
            <a:r>
              <a:rPr lang="en-GB"/>
              <a:t> to you, the parent company, are…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ac51e713e1_1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ac51e713e1_1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Keeping the project free and open source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Providing long term maintenance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Maximising the market reach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And navigating any legal issues associated with online file transfers or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licensing on different platforms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ac51e713e1_1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ac51e713e1_1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Now, there a few </a:t>
            </a:r>
            <a:r>
              <a:rPr lang="en-GB"/>
              <a:t>points</a:t>
            </a:r>
            <a:r>
              <a:rPr lang="en-GB"/>
              <a:t> that I feel need clarification…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ac51e713e1_1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ac51e713e1_1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First of all,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Security.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How will you ensure the protection of users security from malicious external media without compromising the user’s autonomy to use VLC media player however they want?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As well as security,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Brand image.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How will you progress the market reach of VLC?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How will you allocate funds towards marketing?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How will you justify any spending to the other stakeholders?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Speaking of spending, the last point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Funding.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will you do if donors and sponsors stop supporting? Would you consider a freemium business model? More importantly, how will you ensure continued financial </a:t>
            </a:r>
            <a:r>
              <a:rPr lang="en-GB"/>
              <a:t>support</a:t>
            </a:r>
            <a:r>
              <a:rPr lang="en-GB"/>
              <a:t> from community to avoid this situation?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ad7d7024d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ad7d7024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That brings us to the end of part one of this presentation!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ac51e713e1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ac51e713e1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Now, onto the self reflection of my contributions to the srs project…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ac51e713e1_1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ac51e713e1_1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first aspect of this part will be discussing my strengths and weaknesses during the project.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ac51e713e1_1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ac51e713e1_1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First of all my I think my strengths include the initial work I put in researching the stakeholders involved with VLC by reading through their website to find partners and sponsors and so 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Next, I </a:t>
            </a:r>
            <a:r>
              <a:rPr lang="en-GB"/>
              <a:t>believe</a:t>
            </a:r>
            <a:r>
              <a:rPr lang="en-GB"/>
              <a:t> my biggest strength was the work I put in for the System Vision Diagram</a:t>
            </a:r>
            <a:br>
              <a:rPr lang="en-GB"/>
            </a:br>
            <a:r>
              <a:rPr lang="en-GB"/>
              <a:t>It was the aspect I put the most work into by far and I’m proud of how it turned out in the end.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And lastly , I’m happy with how I improved on the design from the first draft by incorporating the feedback received,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ad7d7024dd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ad7d7024d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improving on the placeholder stick figures with images representing the different groups,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adding more visual cues that vlc is a media player,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And adding a some extra icons to bring the key aspects to life.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ad7d7024dd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ad7d7024dd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Now onto my weaknesses.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 think my shortcomings </a:t>
            </a:r>
            <a:r>
              <a:rPr lang="en-GB"/>
              <a:t>definitely</a:t>
            </a:r>
            <a:r>
              <a:rPr lang="en-GB"/>
              <a:t> included time management,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workload management,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and not being </a:t>
            </a:r>
            <a:r>
              <a:rPr lang="en-GB"/>
              <a:t>proactive</a:t>
            </a:r>
            <a:r>
              <a:rPr lang="en-GB"/>
              <a:t> enough in my </a:t>
            </a:r>
            <a:r>
              <a:rPr lang="en-GB"/>
              <a:t>involvement</a:t>
            </a:r>
            <a:r>
              <a:rPr lang="en-GB"/>
              <a:t> with the projects,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 often found aspects of the project I wanted to help with had </a:t>
            </a:r>
            <a:r>
              <a:rPr lang="en-GB">
                <a:solidFill>
                  <a:schemeClr val="dk1"/>
                </a:solidFill>
              </a:rPr>
              <a:t>already </a:t>
            </a:r>
            <a:r>
              <a:rPr lang="en-GB"/>
              <a:t>been tackled by more proactive members of my group.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ac51e713e1_1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ac51e713e1_1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part I found </a:t>
            </a:r>
            <a:r>
              <a:rPr lang="en-GB"/>
              <a:t>the most difficult of working on the SRS project was definitely… 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ac51e713e1_2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ac51e713e1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Admitting when I was confused or asking for help from the group.</a:t>
            </a:r>
            <a:endParaRPr sz="1300"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3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I think this was particularly difficult for me because </a:t>
            </a:r>
            <a:r>
              <a:rPr lang="en-GB" sz="13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I am driven to be independent and I can struggle with not wanting to coming across as unintelligent.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ac51e713e1_1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ac51e713e1_1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That being said, if I </a:t>
            </a:r>
            <a:r>
              <a:rPr lang="en-GB"/>
              <a:t>could go back and do anything differently I would …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ac51e713e1_2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ac51e713e1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Communicate more openly and actively with the group.</a:t>
            </a:r>
            <a:endParaRPr sz="1300"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GB" sz="13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en-GB" sz="13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I believe b</a:t>
            </a:r>
            <a:r>
              <a:rPr lang="en-GB" sz="13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eing able to collaborate more efficiently early on would have lead me to be more helpful throughout the entire project,</a:t>
            </a:r>
            <a:endParaRPr sz="1300"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3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and leave a more significant impression on the work for me to be proud of. 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ac51e713e1_2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ac51e713e1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That’s all for my presentation, thank you for your time!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youtu.be/CXuFFiIv3mA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Video URL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rgbClr val="00FFFF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https://youtu.be/CXuFFiIv3mA</a:t>
            </a:r>
            <a:endParaRPr>
              <a:solidFill>
                <a:srgbClr val="00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SRS Individual Project</a:t>
            </a:r>
            <a:endParaRPr/>
          </a:p>
        </p:txBody>
      </p:sp>
      <p:sp>
        <p:nvSpPr>
          <p:cNvPr id="284" name="Google Shape;284;p14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D0E0E3"/>
                </a:solidFill>
              </a:rPr>
              <a:t>Adam Tait </a:t>
            </a:r>
            <a:endParaRPr>
              <a:solidFill>
                <a:srgbClr val="D0E0E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D0E0E3"/>
                </a:solidFill>
              </a:rPr>
              <a:t>A20303733</a:t>
            </a:r>
            <a:endParaRPr sz="1400">
              <a:solidFill>
                <a:srgbClr val="D0E0E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824000" y="1613825"/>
            <a:ext cx="71712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SRS Overview and Explanation for a Stakeholder</a:t>
            </a:r>
            <a:endParaRPr/>
          </a:p>
        </p:txBody>
      </p:sp>
      <p:sp>
        <p:nvSpPr>
          <p:cNvPr id="290" name="Google Shape;290;p15"/>
          <p:cNvSpPr txBox="1"/>
          <p:nvPr>
            <p:ph type="title"/>
          </p:nvPr>
        </p:nvSpPr>
        <p:spPr>
          <a:xfrm>
            <a:off x="824000" y="3562300"/>
            <a:ext cx="71712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Self-Reflection on SRS Project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/>
          <p:nvPr>
            <p:ph type="title"/>
          </p:nvPr>
        </p:nvSpPr>
        <p:spPr>
          <a:xfrm>
            <a:off x="824000" y="1613825"/>
            <a:ext cx="71712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Parent Company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VideoLan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7"/>
          <p:cNvSpPr txBox="1"/>
          <p:nvPr>
            <p:ph idx="4294967295" type="title"/>
          </p:nvPr>
        </p:nvSpPr>
        <p:spPr>
          <a:xfrm>
            <a:off x="2679600" y="1376138"/>
            <a:ext cx="37848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System Vision Model</a:t>
            </a:r>
            <a:endParaRPr/>
          </a:p>
        </p:txBody>
      </p:sp>
      <p:sp>
        <p:nvSpPr>
          <p:cNvPr id="301" name="Google Shape;301;p17"/>
          <p:cNvSpPr txBox="1"/>
          <p:nvPr>
            <p:ph idx="4294967295" type="title"/>
          </p:nvPr>
        </p:nvSpPr>
        <p:spPr>
          <a:xfrm>
            <a:off x="3427950" y="3151763"/>
            <a:ext cx="22881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Goal Model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8"/>
          <p:cNvSpPr txBox="1"/>
          <p:nvPr>
            <p:ph idx="4294967295" type="title"/>
          </p:nvPr>
        </p:nvSpPr>
        <p:spPr>
          <a:xfrm>
            <a:off x="1053649" y="204109"/>
            <a:ext cx="7030500" cy="66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System Vision Model</a:t>
            </a:r>
            <a:endParaRPr/>
          </a:p>
        </p:txBody>
      </p:sp>
      <p:pic>
        <p:nvPicPr>
          <p:cNvPr id="307" name="Google Shape;30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9422" y="750938"/>
            <a:ext cx="5584626" cy="3891775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08" name="Google Shape;308;p18"/>
          <p:cNvSpPr/>
          <p:nvPr/>
        </p:nvSpPr>
        <p:spPr>
          <a:xfrm>
            <a:off x="3535725" y="1047250"/>
            <a:ext cx="822900" cy="598500"/>
          </a:xfrm>
          <a:prstGeom prst="ellipse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9" name="Google Shape;309;p18"/>
          <p:cNvSpPr/>
          <p:nvPr/>
        </p:nvSpPr>
        <p:spPr>
          <a:xfrm>
            <a:off x="3149525" y="1773150"/>
            <a:ext cx="822900" cy="598500"/>
          </a:xfrm>
          <a:prstGeom prst="ellipse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0" name="Google Shape;310;p18"/>
          <p:cNvSpPr/>
          <p:nvPr/>
        </p:nvSpPr>
        <p:spPr>
          <a:xfrm>
            <a:off x="2489050" y="803500"/>
            <a:ext cx="822900" cy="423300"/>
          </a:xfrm>
          <a:prstGeom prst="ellipse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1" name="Google Shape;311;p18"/>
          <p:cNvSpPr/>
          <p:nvPr/>
        </p:nvSpPr>
        <p:spPr>
          <a:xfrm rot="-1814662">
            <a:off x="4270950" y="1515904"/>
            <a:ext cx="204888" cy="508723"/>
          </a:xfrm>
          <a:prstGeom prst="down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2" name="Google Shape;312;p18"/>
          <p:cNvSpPr/>
          <p:nvPr/>
        </p:nvSpPr>
        <p:spPr>
          <a:xfrm>
            <a:off x="1700525" y="2089524"/>
            <a:ext cx="2214300" cy="1902000"/>
          </a:xfrm>
          <a:prstGeom prst="ellipse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3" name="Google Shape;313;p18"/>
          <p:cNvSpPr/>
          <p:nvPr/>
        </p:nvSpPr>
        <p:spPr>
          <a:xfrm>
            <a:off x="3675300" y="3096875"/>
            <a:ext cx="1829400" cy="1461000"/>
          </a:xfrm>
          <a:prstGeom prst="ellipse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4" name="Google Shape;314;p18"/>
          <p:cNvSpPr/>
          <p:nvPr/>
        </p:nvSpPr>
        <p:spPr>
          <a:xfrm>
            <a:off x="5355950" y="2296150"/>
            <a:ext cx="673200" cy="666600"/>
          </a:xfrm>
          <a:prstGeom prst="ellipse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2927350" y="2499050"/>
            <a:ext cx="673200" cy="666600"/>
          </a:xfrm>
          <a:prstGeom prst="ellipse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6" name="Google Shape;316;p18"/>
          <p:cNvSpPr/>
          <p:nvPr/>
        </p:nvSpPr>
        <p:spPr>
          <a:xfrm rot="5869994">
            <a:off x="4135879" y="1905526"/>
            <a:ext cx="204710" cy="508527"/>
          </a:xfrm>
          <a:prstGeom prst="down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7" name="Google Shape;317;p18"/>
          <p:cNvSpPr/>
          <p:nvPr/>
        </p:nvSpPr>
        <p:spPr>
          <a:xfrm>
            <a:off x="4884925" y="750950"/>
            <a:ext cx="2126700" cy="1461000"/>
          </a:xfrm>
          <a:prstGeom prst="ellipse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8" name="Google Shape;318;p18"/>
          <p:cNvSpPr/>
          <p:nvPr/>
        </p:nvSpPr>
        <p:spPr>
          <a:xfrm>
            <a:off x="1918750" y="1180850"/>
            <a:ext cx="769800" cy="598500"/>
          </a:xfrm>
          <a:prstGeom prst="corner">
            <a:avLst>
              <a:gd fmla="val 15013" name="adj1"/>
              <a:gd fmla="val 15965" name="adj2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9"/>
          <p:cNvSpPr txBox="1"/>
          <p:nvPr>
            <p:ph idx="4294967295" type="title"/>
          </p:nvPr>
        </p:nvSpPr>
        <p:spPr>
          <a:xfrm>
            <a:off x="1053649" y="2238450"/>
            <a:ext cx="7030500" cy="66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Goal Model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0"/>
          <p:cNvSpPr txBox="1"/>
          <p:nvPr>
            <p:ph idx="4294967295" type="title"/>
          </p:nvPr>
        </p:nvSpPr>
        <p:spPr>
          <a:xfrm>
            <a:off x="1053649" y="204109"/>
            <a:ext cx="7030500" cy="66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Goal Model</a:t>
            </a:r>
            <a:endParaRPr/>
          </a:p>
        </p:txBody>
      </p:sp>
      <p:pic>
        <p:nvPicPr>
          <p:cNvPr id="329" name="Google Shape;32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2314" y="1090970"/>
            <a:ext cx="5829556" cy="3240827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1"/>
          <p:cNvSpPr txBox="1"/>
          <p:nvPr>
            <p:ph idx="4294967295" type="title"/>
          </p:nvPr>
        </p:nvSpPr>
        <p:spPr>
          <a:xfrm>
            <a:off x="1053649" y="204109"/>
            <a:ext cx="7030500" cy="66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Goal Model</a:t>
            </a:r>
            <a:endParaRPr/>
          </a:p>
        </p:txBody>
      </p:sp>
      <p:pic>
        <p:nvPicPr>
          <p:cNvPr id="335" name="Google Shape;33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2314" y="1090970"/>
            <a:ext cx="5829556" cy="3240827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36" name="Google Shape;33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5138" y="951325"/>
            <a:ext cx="6687524" cy="875125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1"/>
          <p:cNvSpPr/>
          <p:nvPr/>
        </p:nvSpPr>
        <p:spPr>
          <a:xfrm>
            <a:off x="1825200" y="1870075"/>
            <a:ext cx="418800" cy="8478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8" name="Google Shape;338;p21"/>
          <p:cNvSpPr/>
          <p:nvPr/>
        </p:nvSpPr>
        <p:spPr>
          <a:xfrm>
            <a:off x="6929588" y="1870075"/>
            <a:ext cx="418800" cy="8478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9" name="Google Shape;339;p21"/>
          <p:cNvSpPr/>
          <p:nvPr/>
        </p:nvSpPr>
        <p:spPr>
          <a:xfrm>
            <a:off x="3790650" y="1870075"/>
            <a:ext cx="418800" cy="8478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2"/>
          <p:cNvSpPr txBox="1"/>
          <p:nvPr>
            <p:ph idx="4294967295" type="title"/>
          </p:nvPr>
        </p:nvSpPr>
        <p:spPr>
          <a:xfrm>
            <a:off x="1053649" y="204109"/>
            <a:ext cx="7030500" cy="66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Goal Model</a:t>
            </a:r>
            <a:endParaRPr/>
          </a:p>
        </p:txBody>
      </p:sp>
      <p:pic>
        <p:nvPicPr>
          <p:cNvPr id="345" name="Google Shape;34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2314" y="1090970"/>
            <a:ext cx="5829556" cy="3240827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46" name="Google Shape;346;p22"/>
          <p:cNvSpPr/>
          <p:nvPr/>
        </p:nvSpPr>
        <p:spPr>
          <a:xfrm rot="3979014">
            <a:off x="3450315" y="1685620"/>
            <a:ext cx="274847" cy="746623"/>
          </a:xfrm>
          <a:prstGeom prst="upArrow">
            <a:avLst>
              <a:gd fmla="val 50000" name="adj1"/>
              <a:gd fmla="val 78150" name="adj2"/>
            </a:avLst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7" name="Google Shape;347;p22"/>
          <p:cNvSpPr/>
          <p:nvPr/>
        </p:nvSpPr>
        <p:spPr>
          <a:xfrm rot="-2447289">
            <a:off x="5888664" y="1880567"/>
            <a:ext cx="219513" cy="499194"/>
          </a:xfrm>
          <a:prstGeom prst="upArrow">
            <a:avLst>
              <a:gd fmla="val 50000" name="adj1"/>
              <a:gd fmla="val 97151" name="adj2"/>
            </a:avLst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8" name="Google Shape;348;p22"/>
          <p:cNvSpPr/>
          <p:nvPr/>
        </p:nvSpPr>
        <p:spPr>
          <a:xfrm rot="1732769">
            <a:off x="4413457" y="1908731"/>
            <a:ext cx="219269" cy="499206"/>
          </a:xfrm>
          <a:prstGeom prst="upArrow">
            <a:avLst>
              <a:gd fmla="val 50000" name="adj1"/>
              <a:gd fmla="val 97151" name="adj2"/>
            </a:avLst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3"/>
          <p:cNvSpPr txBox="1"/>
          <p:nvPr>
            <p:ph idx="4294967295" type="title"/>
          </p:nvPr>
        </p:nvSpPr>
        <p:spPr>
          <a:xfrm>
            <a:off x="1053649" y="204109"/>
            <a:ext cx="7030500" cy="66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Goal Model</a:t>
            </a:r>
            <a:endParaRPr/>
          </a:p>
        </p:txBody>
      </p:sp>
      <p:pic>
        <p:nvPicPr>
          <p:cNvPr id="354" name="Google Shape;35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2314" y="1090970"/>
            <a:ext cx="5829556" cy="3240827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55" name="Google Shape;355;p23"/>
          <p:cNvSpPr/>
          <p:nvPr/>
        </p:nvSpPr>
        <p:spPr>
          <a:xfrm>
            <a:off x="4157588" y="3299600"/>
            <a:ext cx="168900" cy="606900"/>
          </a:xfrm>
          <a:prstGeom prst="downArrow">
            <a:avLst>
              <a:gd fmla="val 50000" name="adj1"/>
              <a:gd fmla="val 126125" name="adj2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6" name="Google Shape;356;p23"/>
          <p:cNvSpPr/>
          <p:nvPr/>
        </p:nvSpPr>
        <p:spPr>
          <a:xfrm>
            <a:off x="3104601" y="2243362"/>
            <a:ext cx="2274900" cy="12114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57" name="Google Shape;357;p23"/>
          <p:cNvPicPr preferRelativeResize="0"/>
          <p:nvPr/>
        </p:nvPicPr>
        <p:blipFill rotWithShape="1">
          <a:blip r:embed="rId4">
            <a:alphaModFix/>
          </a:blip>
          <a:srcRect b="13211" l="11777" r="6828" t="10858"/>
          <a:stretch/>
        </p:blipFill>
        <p:spPr>
          <a:xfrm>
            <a:off x="3339775" y="2445138"/>
            <a:ext cx="1772375" cy="807825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3"/>
          <p:cNvSpPr/>
          <p:nvPr/>
        </p:nvSpPr>
        <p:spPr>
          <a:xfrm rot="8286002">
            <a:off x="2668447" y="1744210"/>
            <a:ext cx="219666" cy="629407"/>
          </a:xfrm>
          <a:prstGeom prst="upArrow">
            <a:avLst>
              <a:gd fmla="val 50000" name="adj1"/>
              <a:gd fmla="val 97151" name="adj2"/>
            </a:avLst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4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Relevant Requirements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2313" y="574063"/>
            <a:ext cx="3995374" cy="3995374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5"/>
          <p:cNvSpPr txBox="1"/>
          <p:nvPr>
            <p:ph idx="4294967295" type="body"/>
          </p:nvPr>
        </p:nvSpPr>
        <p:spPr>
          <a:xfrm>
            <a:off x="1303800" y="1430997"/>
            <a:ext cx="3855000" cy="20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86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5"/>
              <a:buChar char="❏"/>
            </a:pPr>
            <a:r>
              <a:rPr lang="en-GB" sz="1704">
                <a:solidFill>
                  <a:srgbClr val="000000"/>
                </a:solidFill>
              </a:rPr>
              <a:t>  Remain free and open source</a:t>
            </a:r>
            <a:endParaRPr sz="1704">
              <a:solidFill>
                <a:srgbClr val="000000"/>
              </a:solidFill>
            </a:endParaRPr>
          </a:p>
          <a:p>
            <a:pPr indent="-33686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5"/>
              <a:buChar char="❏"/>
            </a:pPr>
            <a:r>
              <a:rPr lang="en-GB" sz="1704">
                <a:solidFill>
                  <a:srgbClr val="000000"/>
                </a:solidFill>
              </a:rPr>
              <a:t>  Provide long term maintenance</a:t>
            </a:r>
            <a:endParaRPr sz="1704">
              <a:solidFill>
                <a:srgbClr val="000000"/>
              </a:solidFill>
            </a:endParaRPr>
          </a:p>
          <a:p>
            <a:pPr indent="-33686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5"/>
              <a:buChar char="❏"/>
            </a:pPr>
            <a:r>
              <a:rPr lang="en-GB" sz="1704">
                <a:solidFill>
                  <a:srgbClr val="000000"/>
                </a:solidFill>
              </a:rPr>
              <a:t>  Maximise market reach</a:t>
            </a:r>
            <a:endParaRPr sz="1704">
              <a:solidFill>
                <a:srgbClr val="000000"/>
              </a:solidFill>
            </a:endParaRPr>
          </a:p>
          <a:p>
            <a:pPr indent="-33686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5"/>
              <a:buChar char="❏"/>
            </a:pPr>
            <a:r>
              <a:rPr lang="en-GB" sz="1704">
                <a:solidFill>
                  <a:srgbClr val="000000"/>
                </a:solidFill>
              </a:rPr>
              <a:t>  Legal issues</a:t>
            </a:r>
            <a:endParaRPr sz="1704">
              <a:solidFill>
                <a:srgbClr val="000000"/>
              </a:solidFill>
            </a:endParaRPr>
          </a:p>
          <a:p>
            <a:pPr indent="-33686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5"/>
              <a:buChar char="❏"/>
            </a:pPr>
            <a:r>
              <a:rPr lang="en-GB" sz="1704">
                <a:solidFill>
                  <a:srgbClr val="000000"/>
                </a:solidFill>
              </a:rPr>
              <a:t>  Support multiple platforms</a:t>
            </a:r>
            <a:endParaRPr sz="1704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6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Points of Clarification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question marks background image" id="379" name="Google Shape;379;p27"/>
          <p:cNvPicPr preferRelativeResize="0"/>
          <p:nvPr/>
        </p:nvPicPr>
        <p:blipFill rotWithShape="1">
          <a:blip r:embed="rId3">
            <a:alphaModFix amt="35000"/>
          </a:blip>
          <a:srcRect b="9665" l="0" r="0" t="0"/>
          <a:stretch/>
        </p:blipFill>
        <p:spPr>
          <a:xfrm>
            <a:off x="605280" y="16257"/>
            <a:ext cx="7933440" cy="5576973"/>
          </a:xfrm>
          <a:prstGeom prst="rect">
            <a:avLst/>
          </a:prstGeom>
          <a:noFill/>
          <a:ln>
            <a:noFill/>
          </a:ln>
          <a:effectLst>
            <a:reflection blurRad="0" dir="5400000" dist="45724" endA="0" endPos="30000" fadeDir="5400012" kx="0" rotWithShape="0" algn="bl" stPos="0" sy="-100000" ky="0"/>
          </a:effectLst>
        </p:spPr>
      </p:pic>
      <p:sp>
        <p:nvSpPr>
          <p:cNvPr id="380" name="Google Shape;380;p27"/>
          <p:cNvSpPr txBox="1"/>
          <p:nvPr>
            <p:ph idx="4294967295" type="body"/>
          </p:nvPr>
        </p:nvSpPr>
        <p:spPr>
          <a:xfrm>
            <a:off x="1056750" y="786300"/>
            <a:ext cx="7030500" cy="35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latin typeface="Maven Pro"/>
                <a:ea typeface="Maven Pro"/>
                <a:cs typeface="Maven Pro"/>
                <a:sym typeface="Maven Pro"/>
              </a:rPr>
              <a:t>Security</a:t>
            </a:r>
            <a:endParaRPr b="1" sz="2200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</a:rPr>
              <a:t>How will you ensure the protection of users security from malicious external media without compromising the user’s autonomy to use VLC media however they want?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latin typeface="Maven Pro"/>
                <a:ea typeface="Maven Pro"/>
                <a:cs typeface="Maven Pro"/>
                <a:sym typeface="Maven Pro"/>
              </a:rPr>
              <a:t>Brand Image</a:t>
            </a:r>
            <a:endParaRPr b="1" sz="2200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</a:rPr>
              <a:t>How will you progress the market reach of VLC? How will you allocate funds towards marketing? How will you justify any spending to the other stakeholders?</a:t>
            </a:r>
            <a:endParaRPr sz="1100">
              <a:solidFill>
                <a:srgbClr val="000000"/>
              </a:solidFill>
            </a:endParaRPr>
          </a:p>
          <a:p>
            <a:pPr indent="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latin typeface="Maven Pro"/>
                <a:ea typeface="Maven Pro"/>
                <a:cs typeface="Maven Pro"/>
                <a:sym typeface="Maven Pro"/>
              </a:rPr>
              <a:t>Funding</a:t>
            </a:r>
            <a:endParaRPr b="1" sz="2200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</a:rPr>
              <a:t>What if donors / sponsors stop supporting? How will you ensure continued financial support from community?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9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Self-Reflection on SRS Project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0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Strengths and Weaknesses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1"/>
          <p:cNvSpPr txBox="1"/>
          <p:nvPr>
            <p:ph idx="4294967295" type="body"/>
          </p:nvPr>
        </p:nvSpPr>
        <p:spPr>
          <a:xfrm>
            <a:off x="1226361" y="1990050"/>
            <a:ext cx="32187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Researching stakeholders </a:t>
            </a:r>
            <a:endParaRPr/>
          </a:p>
          <a:p>
            <a:pPr indent="0" lvl="0" marL="0" rtl="0" algn="r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System vision</a:t>
            </a:r>
            <a:endParaRPr/>
          </a:p>
          <a:p>
            <a:pPr indent="0" lvl="0" marL="0" rtl="0" algn="r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Incorporation of feedback</a:t>
            </a:r>
            <a:endParaRPr/>
          </a:p>
        </p:txBody>
      </p:sp>
      <p:pic>
        <p:nvPicPr>
          <p:cNvPr id="400" name="Google Shape;40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84200" y="1602100"/>
            <a:ext cx="2911975" cy="307335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1"/>
          <p:cNvSpPr txBox="1"/>
          <p:nvPr>
            <p:ph idx="4294967295" type="title"/>
          </p:nvPr>
        </p:nvSpPr>
        <p:spPr>
          <a:xfrm>
            <a:off x="2370550" y="986500"/>
            <a:ext cx="20745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Strengths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40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2"/>
          <p:cNvSpPr txBox="1"/>
          <p:nvPr>
            <p:ph idx="4294967295" type="body"/>
          </p:nvPr>
        </p:nvSpPr>
        <p:spPr>
          <a:xfrm>
            <a:off x="1226361" y="1990050"/>
            <a:ext cx="32187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Researching stakeholders </a:t>
            </a:r>
            <a:endParaRPr/>
          </a:p>
          <a:p>
            <a:pPr indent="0" lvl="0" marL="0" rtl="0" algn="r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System vision</a:t>
            </a:r>
            <a:endParaRPr/>
          </a:p>
          <a:p>
            <a:pPr indent="0" lvl="0" marL="0" rtl="0" algn="r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Incorporation of feedback</a:t>
            </a:r>
            <a:endParaRPr/>
          </a:p>
          <a:p>
            <a:pPr indent="0" lvl="0" marL="0" rtl="0" algn="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07" name="Google Shape;40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84200" y="1602100"/>
            <a:ext cx="2911975" cy="3073359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32"/>
          <p:cNvSpPr txBox="1"/>
          <p:nvPr>
            <p:ph idx="4294967295" type="title"/>
          </p:nvPr>
        </p:nvSpPr>
        <p:spPr>
          <a:xfrm>
            <a:off x="2370550" y="986500"/>
            <a:ext cx="20745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Strengths</a:t>
            </a:r>
            <a:endParaRPr/>
          </a:p>
        </p:txBody>
      </p:sp>
      <p:pic>
        <p:nvPicPr>
          <p:cNvPr id="409" name="Google Shape;409;p32"/>
          <p:cNvPicPr preferRelativeResize="0"/>
          <p:nvPr/>
        </p:nvPicPr>
        <p:blipFill rotWithShape="1">
          <a:blip r:embed="rId4">
            <a:alphaModFix/>
          </a:blip>
          <a:srcRect b="0" l="21929" r="0" t="67717"/>
          <a:stretch/>
        </p:blipFill>
        <p:spPr>
          <a:xfrm>
            <a:off x="2071550" y="3483100"/>
            <a:ext cx="7072450" cy="166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32"/>
          <p:cNvPicPr preferRelativeResize="0"/>
          <p:nvPr/>
        </p:nvPicPr>
        <p:blipFill rotWithShape="1">
          <a:blip r:embed="rId4">
            <a:alphaModFix/>
          </a:blip>
          <a:srcRect b="32281" l="3716" r="0" t="33092"/>
          <a:stretch/>
        </p:blipFill>
        <p:spPr>
          <a:xfrm>
            <a:off x="421600" y="1702100"/>
            <a:ext cx="8722399" cy="1780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32"/>
          <p:cNvPicPr preferRelativeResize="0"/>
          <p:nvPr/>
        </p:nvPicPr>
        <p:blipFill rotWithShape="1">
          <a:blip r:embed="rId4">
            <a:alphaModFix/>
          </a:blip>
          <a:srcRect b="66468" l="7910" r="0" t="0"/>
          <a:stretch/>
        </p:blipFill>
        <p:spPr>
          <a:xfrm>
            <a:off x="801550" y="0"/>
            <a:ext cx="8342448" cy="172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3"/>
          <p:cNvSpPr txBox="1"/>
          <p:nvPr>
            <p:ph idx="4294967295" type="body"/>
          </p:nvPr>
        </p:nvSpPr>
        <p:spPr>
          <a:xfrm>
            <a:off x="4599889" y="1990050"/>
            <a:ext cx="33783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Time management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Workload management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Proactive engagement</a:t>
            </a:r>
            <a:endParaRPr/>
          </a:p>
        </p:txBody>
      </p:sp>
      <p:pic>
        <p:nvPicPr>
          <p:cNvPr id="417" name="Google Shape;41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6665" y="1944100"/>
            <a:ext cx="2737335" cy="273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84200" y="1602100"/>
            <a:ext cx="2911975" cy="3073359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3"/>
          <p:cNvSpPr txBox="1"/>
          <p:nvPr>
            <p:ph idx="4294967295" type="title"/>
          </p:nvPr>
        </p:nvSpPr>
        <p:spPr>
          <a:xfrm>
            <a:off x="2370550" y="986500"/>
            <a:ext cx="20745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Strengths</a:t>
            </a:r>
            <a:endParaRPr/>
          </a:p>
        </p:txBody>
      </p:sp>
      <p:sp>
        <p:nvSpPr>
          <p:cNvPr id="420" name="Google Shape;420;p33"/>
          <p:cNvSpPr txBox="1"/>
          <p:nvPr>
            <p:ph idx="4294967295" type="title"/>
          </p:nvPr>
        </p:nvSpPr>
        <p:spPr>
          <a:xfrm>
            <a:off x="4972800" y="986500"/>
            <a:ext cx="26325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Weaknesses</a:t>
            </a:r>
            <a:endParaRPr/>
          </a:p>
        </p:txBody>
      </p:sp>
      <p:sp>
        <p:nvSpPr>
          <p:cNvPr id="421" name="Google Shape;421;p33"/>
          <p:cNvSpPr txBox="1"/>
          <p:nvPr>
            <p:ph idx="4294967295" type="body"/>
          </p:nvPr>
        </p:nvSpPr>
        <p:spPr>
          <a:xfrm>
            <a:off x="1226361" y="1990050"/>
            <a:ext cx="32187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Researching stakeholders </a:t>
            </a:r>
            <a:endParaRPr/>
          </a:p>
          <a:p>
            <a:pPr indent="0" lvl="0" marL="0" rtl="0" algn="r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System vision</a:t>
            </a:r>
            <a:endParaRPr/>
          </a:p>
          <a:p>
            <a:pPr indent="0" lvl="0" marL="0" rtl="0" algn="r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Incorporation of feedback</a:t>
            </a:r>
            <a:endParaRPr/>
          </a:p>
          <a:p>
            <a:pPr indent="0" lvl="0" marL="0" rtl="0" algn="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4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Most Difficult Part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Google Shape;431;p35"/>
          <p:cNvPicPr preferRelativeResize="0"/>
          <p:nvPr/>
        </p:nvPicPr>
        <p:blipFill rotWithShape="1">
          <a:blip r:embed="rId3">
            <a:alphaModFix/>
          </a:blip>
          <a:srcRect b="24924" l="0" r="0" t="0"/>
          <a:stretch/>
        </p:blipFill>
        <p:spPr>
          <a:xfrm>
            <a:off x="1654150" y="643900"/>
            <a:ext cx="5835700" cy="43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35"/>
          <p:cNvSpPr txBox="1"/>
          <p:nvPr>
            <p:ph idx="4294967295" type="body"/>
          </p:nvPr>
        </p:nvSpPr>
        <p:spPr>
          <a:xfrm>
            <a:off x="2017650" y="246484"/>
            <a:ext cx="5108700" cy="5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-GB" sz="2200">
                <a:latin typeface="Maven Pro"/>
                <a:ea typeface="Maven Pro"/>
                <a:cs typeface="Maven Pro"/>
                <a:sym typeface="Maven Pro"/>
              </a:rPr>
              <a:t>Admitting when I was confused  / asking for help from the group</a:t>
            </a:r>
            <a:endParaRPr b="1" sz="2200"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4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6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 would do differently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2" name="Google Shape;44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0600" y="152398"/>
            <a:ext cx="4720674" cy="4838693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37"/>
          <p:cNvSpPr txBox="1"/>
          <p:nvPr>
            <p:ph idx="4294967295" type="title"/>
          </p:nvPr>
        </p:nvSpPr>
        <p:spPr>
          <a:xfrm>
            <a:off x="830100" y="548100"/>
            <a:ext cx="3430500" cy="63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Communicate</a:t>
            </a:r>
            <a:endParaRPr/>
          </a:p>
        </p:txBody>
      </p:sp>
      <p:pic>
        <p:nvPicPr>
          <p:cNvPr id="444" name="Google Shape;44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60600" y="152400"/>
            <a:ext cx="4720683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37"/>
          <p:cNvSpPr txBox="1"/>
          <p:nvPr>
            <p:ph idx="4294967295" type="subTitle"/>
          </p:nvPr>
        </p:nvSpPr>
        <p:spPr>
          <a:xfrm>
            <a:off x="830100" y="1180203"/>
            <a:ext cx="3430500" cy="72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600"/>
              <a:t>More openly and actively.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8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